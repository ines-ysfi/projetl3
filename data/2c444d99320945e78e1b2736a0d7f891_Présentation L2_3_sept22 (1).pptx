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9926638" cy="6797675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11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fr-FR"/>
              <a:t>Modifier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DF68E2-58F2-4D09-BE8B-E3BD06533059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 bwMode="auto"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28FC5F6-F338-4AE4-BB23-26385BCFC423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113E31D-E2AB-40D1-8B51-AFA5AFEF393A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EBB0C4-6273-4C6E-B9BD-2EDC30F1CD52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 bwMode="auto"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97280" y="1845734"/>
            <a:ext cx="4937760" cy="4023359"/>
          </a:xfrm>
        </p:spPr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17920" y="1845735"/>
            <a:ext cx="4937760" cy="4023360"/>
          </a:xfrm>
        </p:spPr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9AB4D41-86C1-4908-B66A-0B50CEB3BF29}" type="datetimeFigureOut">
              <a:rPr lang="en-US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97280" y="2582334"/>
            <a:ext cx="4937760" cy="3286759"/>
          </a:xfrm>
        </p:spPr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217920" y="2582334"/>
            <a:ext cx="4937760" cy="3286759"/>
          </a:xfrm>
        </p:spPr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426E2C-56C1-4E0D-A793-0088A7FDD37E}" type="datetimeFigureOut">
              <a:rPr lang="en-US"/>
              <a:t>9/2/2022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8C39B41-D8B5-4052-B551-9B5525EAA8B6}" type="datetimeFigureOut">
              <a:rPr lang="en-US"/>
              <a:t>9/2/2022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94136C-8742-45B2-AF27-D93DF72833A9}" type="datetimeFigureOut">
              <a:rPr lang="en-US"/>
              <a:t>9/2/2022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594358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800600" y="731520"/>
            <a:ext cx="6492240" cy="5257800"/>
          </a:xfrm>
        </p:spPr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65512" y="6459785"/>
            <a:ext cx="2618509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2ABBEA6-7C60-4B02-AE87-00D78D8422AF}" type="datetimeFigureOut">
              <a:rPr lang="en-US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15" y="0"/>
            <a:ext cx="12191985" cy="49150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9CAD897-D46E-4AD2-BD9B-49DD3E640873}" type="datetimeFigureOut">
              <a:rPr lang="en-US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lIns="45720" tIns="0" rIns="45720" bIns="0"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2D6473-DF6D-4702-B328-E0DD40540A4E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412302"/>
            <a:ext cx="2628900" cy="575989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6F7E3A-B166-407D-9866-32884E7D5B37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fr-FR"/>
              <a:t>Modifier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DF68E2-58F2-4D09-BE8B-E3BD06533059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 bwMode="auto"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28FC5F6-F338-4AE4-BB23-26385BCFC423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113E31D-E2AB-40D1-8B51-AFA5AFEF393A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EBB0C4-6273-4C6E-B9BD-2EDC30F1CD52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 bwMode="auto"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97280" y="1845734"/>
            <a:ext cx="4937760" cy="4023359"/>
          </a:xfrm>
        </p:spPr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17920" y="1845735"/>
            <a:ext cx="4937760" cy="4023360"/>
          </a:xfrm>
        </p:spPr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9AB4D41-86C1-4908-B66A-0B50CEB3BF29}" type="datetimeFigureOut">
              <a:rPr lang="en-US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97280" y="2582334"/>
            <a:ext cx="4937760" cy="3286759"/>
          </a:xfrm>
        </p:spPr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217920" y="2582334"/>
            <a:ext cx="4937760" cy="3286759"/>
          </a:xfrm>
        </p:spPr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426E2C-56C1-4E0D-A793-0088A7FDD37E}" type="datetimeFigureOut">
              <a:rPr lang="en-US"/>
              <a:t>9/2/2022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8C39B41-D8B5-4052-B551-9B5525EAA8B6}" type="datetimeFigureOut">
              <a:rPr lang="en-US"/>
              <a:t>9/2/2022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94136C-8742-45B2-AF27-D93DF72833A9}" type="datetimeFigureOut">
              <a:rPr lang="en-US"/>
              <a:t>9/2/2022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594358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800600" y="731520"/>
            <a:ext cx="6492240" cy="5257800"/>
          </a:xfrm>
        </p:spPr>
        <p:txBody>
          <a:bodyPr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65512" y="6459785"/>
            <a:ext cx="2618509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2ABBEA6-7C60-4B02-AE87-00D78D8422AF}" type="datetimeFigureOut">
              <a:rPr lang="en-US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15" y="0"/>
            <a:ext cx="12191985" cy="49150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9CAD897-D46E-4AD2-BD9B-49DD3E640873}" type="datetimeFigureOut">
              <a:rPr lang="en-US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lIns="45720" tIns="0" rIns="45720" bIns="0"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2D6473-DF6D-4702-B328-E0DD40540A4E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412302"/>
            <a:ext cx="2628900" cy="575989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6F7E3A-B166-407D-9866-32884E7D5B37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/>
            </a:pPr>
            <a:endParaRPr lang="fr-F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/>
            </a:pPr>
            <a:endParaRPr lang="fr-F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/>
            </a:pPr>
            <a:endParaRPr lang="fr-F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8624D31-43A5-475A-80CF-332C9F6DCF35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686185" y="6459785"/>
            <a:ext cx="4822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 bwMode="auto"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85000"/>
        </a:lnSpc>
        <a:spcBef>
          <a:spcPts val="0"/>
        </a:spcBef>
        <a:buNone/>
        <a:defRPr sz="4800" spc="-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/>
        <a:buChar char=" 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8624D31-43A5-475A-80CF-332C9F6DCF35}" type="datetimeFigureOut">
              <a:rPr lang="en-US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686185" y="6459785"/>
            <a:ext cx="4822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FAB73BC-B049-4115-A692-8D63A059BFB8}" type="slidenum">
              <a:rPr lang="en-US"/>
              <a:t>‹N°›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 bwMode="auto"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>
        <a:lnSpc>
          <a:spcPct val="85000"/>
        </a:lnSpc>
        <a:spcBef>
          <a:spcPts val="0"/>
        </a:spcBef>
        <a:buNone/>
        <a:defRPr sz="4800" spc="-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/>
        <a:buChar char=" 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licences@mi.parisdescartes.fr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tivation.app.u-paris.f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scours.parisdescartes.fr/direc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.png"/><Relationship Id="rId4" Type="http://schemas.openxmlformats.org/officeDocument/2006/relationships/hyperlink" Target="https://helios2.mi.parisdescartes.fr/~graff/Edt-2022/Edt-L2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pweb.app.u-paris.fr/ipweb" TargetMode="Externa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-paris.fr/bienvenue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 bwMode="auto">
          <a:xfrm>
            <a:off x="1097280" y="912240"/>
            <a:ext cx="10057680" cy="7311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  <a:defRPr/>
            </a:pPr>
            <a:r>
              <a:rPr lang="fr-FR" sz="2800" b="1" strike="noStrike" spc="-46">
                <a:solidFill>
                  <a:srgbClr val="9E3611"/>
                </a:solidFill>
                <a:latin typeface="Arial Black"/>
              </a:rPr>
              <a:t>La scolarité maths info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 bwMode="auto">
          <a:xfrm>
            <a:off x="1097280" y="1845720"/>
            <a:ext cx="10057680" cy="40226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45000" rIns="0" bIns="45000"/>
          <a:lstStyle/>
          <a:p>
            <a:pPr marL="91440" indent="-90720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2800" b="0" strike="noStrike" spc="-1">
                <a:solidFill>
                  <a:srgbClr val="404040"/>
                </a:solidFill>
                <a:latin typeface="Calibri"/>
              </a:rPr>
              <a:t> Hasan Ataman :  L1/ CPGE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marL="91440" indent="-90720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2800" b="0" strike="noStrike" spc="-1">
                <a:solidFill>
                  <a:srgbClr val="404040"/>
                </a:solidFill>
                <a:latin typeface="Calibri"/>
              </a:rPr>
              <a:t> Americo Venegas: L2 /doubles licences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marL="91440" indent="-90720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2800" b="0" strike="noStrike" spc="-1">
                <a:solidFill>
                  <a:srgbClr val="404040"/>
                </a:solidFill>
                <a:latin typeface="Calibri"/>
              </a:rPr>
              <a:t> Matthieu Hoarau: L3 /stages de licence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marL="91440" indent="-90720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2800" b="0" strike="noStrike" spc="-1">
                <a:solidFill>
                  <a:srgbClr val="404040"/>
                </a:solidFill>
                <a:latin typeface="Calibri"/>
              </a:rPr>
              <a:t> Nadejda Varfolomeeva: Masters Formation Initiale </a:t>
            </a:r>
            <a:endParaRPr/>
          </a:p>
          <a:p>
            <a:pPr marL="91440" indent="-90720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2800" spc="-1">
                <a:solidFill>
                  <a:srgbClr val="404040"/>
                </a:solidFill>
                <a:latin typeface="Calibri"/>
              </a:rPr>
              <a:t> </a:t>
            </a:r>
            <a:r>
              <a:rPr lang="fr-FR" sz="2800" b="0" strike="noStrike" spc="-1">
                <a:solidFill>
                  <a:srgbClr val="404040"/>
                </a:solidFill>
                <a:latin typeface="Calibri"/>
              </a:rPr>
              <a:t>Monika</a:t>
            </a:r>
            <a:r>
              <a:rPr lang="fr-FR" sz="2800" spc="-1">
                <a:solidFill>
                  <a:srgbClr val="404040"/>
                </a:solidFill>
                <a:latin typeface="Calibri"/>
              </a:rPr>
              <a:t> </a:t>
            </a:r>
            <a:r>
              <a:rPr lang="fr-FR" sz="2800" b="0" strike="noStrike" spc="-1">
                <a:solidFill>
                  <a:srgbClr val="404040"/>
                </a:solidFill>
                <a:latin typeface="Calibri"/>
              </a:rPr>
              <a:t>Goldery: </a:t>
            </a:r>
            <a:r>
              <a:rPr lang="fr-FR" sz="2800" spc="-1">
                <a:solidFill>
                  <a:srgbClr val="404040"/>
                </a:solidFill>
                <a:latin typeface="Calibri"/>
              </a:rPr>
              <a:t>Apprentissage et Relations internationales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marL="91440" indent="-90720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2800" b="0" strike="noStrike" spc="-1">
                <a:solidFill>
                  <a:srgbClr val="404040"/>
                </a:solidFill>
                <a:latin typeface="Calibri"/>
              </a:rPr>
              <a:t> Ghislaine Masson:  Responsable Adjointe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marL="91440" indent="-90720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2800" b="0" strike="noStrike" spc="-1">
                <a:solidFill>
                  <a:srgbClr val="404040"/>
                </a:solidFill>
                <a:latin typeface="Calibri"/>
              </a:rPr>
              <a:t> Séverine Lopes: Responsable du service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defRPr/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114780" y="298795"/>
            <a:ext cx="3592202" cy="1299096"/>
          </a:xfrm>
        </p:spPr>
        <p:txBody>
          <a:bodyPr/>
          <a:lstStyle/>
          <a:p>
            <a:pPr algn="ctr">
              <a:defRPr/>
            </a:pPr>
            <a:r>
              <a:rPr lang="fr-FR" spc="-46">
                <a:solidFill>
                  <a:srgbClr val="C00000"/>
                </a:solidFill>
                <a:latin typeface="Arial"/>
              </a:rPr>
              <a:t>Horaires</a:t>
            </a:r>
            <a:r>
              <a:rPr lang="fr-FR" sz="2400" spc="-1">
                <a:solidFill>
                  <a:srgbClr val="000000"/>
                </a:solidFill>
                <a:latin typeface="Arial"/>
              </a:rPr>
              <a:t/>
            </a:r>
            <a:br>
              <a:rPr lang="fr-FR" sz="2400" spc="-1">
                <a:solidFill>
                  <a:srgbClr val="000000"/>
                </a:solidFill>
                <a:latin typeface="Arial"/>
              </a:rPr>
            </a:b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4680527" y="565265"/>
            <a:ext cx="6818746" cy="5447607"/>
          </a:xfrm>
        </p:spPr>
        <p:txBody>
          <a:bodyPr>
            <a:normAutofit fontScale="92500" lnSpcReduction="10000"/>
          </a:bodyPr>
          <a:lstStyle/>
          <a:p>
            <a:pPr indent="-90720">
              <a:lnSpc>
                <a:spcPct val="15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1900" spc="-1">
                <a:solidFill>
                  <a:srgbClr val="404040"/>
                </a:solidFill>
              </a:rPr>
              <a:t>Questions administratives: attestations, bourses..</a:t>
            </a:r>
            <a:endParaRPr lang="fr-FR" sz="1900" spc="-1">
              <a:solidFill>
                <a:srgbClr val="000000"/>
              </a:solidFill>
            </a:endParaRPr>
          </a:p>
          <a:p>
            <a:pPr indent="-90720">
              <a:lnSpc>
                <a:spcPct val="15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1900" spc="-1">
                <a:solidFill>
                  <a:srgbClr val="404040"/>
                </a:solidFill>
              </a:rPr>
              <a:t> Questions  pédagogiques: inscription, examens, relevés de notes..</a:t>
            </a:r>
            <a:endParaRPr lang="fr-FR" sz="1900" spc="-1">
              <a:solidFill>
                <a:srgbClr val="000000"/>
              </a:solidFill>
            </a:endParaRPr>
          </a:p>
          <a:p>
            <a:pPr indent="-90720">
              <a:lnSpc>
                <a:spcPct val="15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1900" spc="-1">
                <a:solidFill>
                  <a:srgbClr val="404040"/>
                </a:solidFill>
              </a:rPr>
              <a:t> Situations particulières:  suivi médical, césure, échanges internationaux</a:t>
            </a:r>
            <a:endParaRPr lang="fr-FR" sz="1900" spc="-1">
              <a:solidFill>
                <a:srgbClr val="000000"/>
              </a:solidFill>
            </a:endParaRPr>
          </a:p>
          <a:p>
            <a:pPr indent="-90720">
              <a:lnSpc>
                <a:spcPct val="15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1900" spc="-1">
                <a:solidFill>
                  <a:srgbClr val="404040"/>
                </a:solidFill>
              </a:rPr>
              <a:t>Informations diverses….</a:t>
            </a:r>
            <a:endParaRPr/>
          </a:p>
          <a:p>
            <a:pPr indent="-90720" algn="ctr">
              <a:lnSpc>
                <a:spcPct val="15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1900" b="1" spc="-1">
                <a:solidFill>
                  <a:srgbClr val="C00000"/>
                </a:solidFill>
              </a:rPr>
              <a:t>Où trouver les informations</a:t>
            </a:r>
            <a:endParaRPr/>
          </a:p>
          <a:p>
            <a:pPr indent="-90720">
              <a:lnSpc>
                <a:spcPct val="15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1900" spc="-1">
                <a:solidFill>
                  <a:srgbClr val="404040"/>
                </a:solidFill>
              </a:rPr>
              <a:t> Site de l’UFR MATHS-INFO </a:t>
            </a:r>
            <a:endParaRPr/>
          </a:p>
          <a:p>
            <a:pPr indent="-90720">
              <a:lnSpc>
                <a:spcPct val="15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1900" spc="-1">
                <a:solidFill>
                  <a:srgbClr val="404040"/>
                </a:solidFill>
              </a:rPr>
              <a:t>Consultez votre espace MOODLE</a:t>
            </a:r>
            <a:endParaRPr/>
          </a:p>
          <a:p>
            <a:pPr indent="-90720">
              <a:lnSpc>
                <a:spcPct val="15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1900" spc="-1">
                <a:solidFill>
                  <a:srgbClr val="404040"/>
                </a:solidFill>
              </a:rPr>
              <a:t>Affichage au 5ème étage</a:t>
            </a:r>
            <a:endParaRPr/>
          </a:p>
          <a:p>
            <a:pPr indent="-90720">
              <a:lnSpc>
                <a:spcPct val="15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1900" spc="-1">
                <a:solidFill>
                  <a:srgbClr val="404040"/>
                </a:solidFill>
              </a:rPr>
              <a:t>E-mail</a:t>
            </a:r>
            <a:endParaRPr lang="fr-FR" sz="1900" spc="-1">
              <a:solidFill>
                <a:srgbClr val="000000"/>
              </a:solidFill>
            </a:endParaRPr>
          </a:p>
          <a:p>
            <a:pPr>
              <a:defRPr/>
            </a:pP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438727" y="1845424"/>
            <a:ext cx="3200400" cy="3959839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fr-FR" sz="1600" spc="-1">
                <a:solidFill>
                  <a:srgbClr val="404040"/>
                </a:solidFill>
                <a:latin typeface="Arial"/>
              </a:rPr>
              <a:t>Horaires d’ouverture:</a:t>
            </a: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50000"/>
              </a:lnSpc>
              <a:defRPr/>
            </a:pPr>
            <a:r>
              <a:rPr lang="fr-FR" sz="1600" spc="-1">
                <a:solidFill>
                  <a:srgbClr val="404040"/>
                </a:solidFill>
                <a:latin typeface="Arial"/>
              </a:rPr>
              <a:t>Du lundi au vendredi </a:t>
            </a: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50000"/>
              </a:lnSpc>
              <a:defRPr/>
            </a:pPr>
            <a:r>
              <a:rPr lang="fr-FR" sz="1600" spc="-1">
                <a:solidFill>
                  <a:srgbClr val="404040"/>
                </a:solidFill>
                <a:latin typeface="Arial"/>
              </a:rPr>
              <a:t>de 13h30 à 16h</a:t>
            </a: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50000"/>
              </a:lnSpc>
              <a:defRPr/>
            </a:pPr>
            <a:r>
              <a:rPr lang="fr-FR" sz="1600" u="sng" spc="-1">
                <a:solidFill>
                  <a:srgbClr val="9E3611"/>
                </a:solidFill>
                <a:latin typeface="Arial"/>
                <a:hlinkClick r:id="rId2" tooltip="mailto:licences@mi.parisdescartes.fr"/>
              </a:rPr>
              <a:t>licences@mi.parisdescartes.fr</a:t>
            </a:r>
            <a:endParaRPr lang="fr-FR" sz="1600" u="sng" spc="-1">
              <a:solidFill>
                <a:srgbClr val="9E3611"/>
              </a:solidFill>
              <a:latin typeface="Arial"/>
            </a:endParaRPr>
          </a:p>
          <a:p>
            <a:pPr algn="ctr">
              <a:lnSpc>
                <a:spcPct val="150000"/>
              </a:lnSpc>
              <a:defRPr/>
            </a:pPr>
            <a:r>
              <a:rPr lang="fr-FR" sz="1600" b="1" u="sng" spc="-1">
                <a:solidFill>
                  <a:srgbClr val="9E3611"/>
                </a:solidFill>
                <a:latin typeface="Arial"/>
              </a:rPr>
              <a:t>ATTENTION: </a:t>
            </a:r>
            <a:endParaRPr/>
          </a:p>
          <a:p>
            <a:pPr algn="ctr">
              <a:lnSpc>
                <a:spcPct val="150000"/>
              </a:lnSpc>
              <a:defRPr/>
            </a:pPr>
            <a:r>
              <a:rPr lang="fr-FR" sz="1600" b="1" spc="-1">
                <a:solidFill>
                  <a:srgbClr val="9E3611"/>
                </a:solidFill>
                <a:latin typeface="Arial"/>
              </a:rPr>
              <a:t>accueil uniquement sur Rendez-vous jusqu'au 30 septembre</a:t>
            </a:r>
            <a:endParaRPr lang="fr-FR" sz="1200" b="1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50000"/>
              </a:lnSpc>
              <a:defRPr/>
            </a:pPr>
            <a:endParaRPr lang="fr-FR" sz="1600" u="sng" spc="-1">
              <a:solidFill>
                <a:srgbClr val="9E3611"/>
              </a:solidFill>
              <a:latin typeface="Arial"/>
            </a:endParaRPr>
          </a:p>
          <a:p>
            <a:pPr algn="ctr">
              <a:lnSpc>
                <a:spcPct val="150000"/>
              </a:lnSpc>
              <a:defRPr/>
            </a:pPr>
            <a:endParaRPr lang="fr-FR" sz="1200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 bwMode="auto">
          <a:xfrm>
            <a:off x="1097280" y="628305"/>
            <a:ext cx="10057680" cy="858749"/>
          </a:xfrm>
          <a:prstGeom prst="rect">
            <a:avLst/>
          </a:pr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  <a:defRPr/>
            </a:pPr>
            <a:r>
              <a:rPr lang="fr-FR" sz="2800" b="1" strike="noStrike" spc="-46">
                <a:solidFill>
                  <a:srgbClr val="9E3611"/>
                </a:solidFill>
                <a:latin typeface="Arial"/>
              </a:rPr>
              <a:t>Activation du compte si ce n’est pas encore fait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Espace réservé du contenu 4"/>
          <p:cNvPicPr/>
          <p:nvPr/>
        </p:nvPicPr>
        <p:blipFill>
          <a:blip r:embed="rId2"/>
          <a:stretch/>
        </p:blipFill>
        <p:spPr bwMode="auto">
          <a:xfrm>
            <a:off x="1272742" y="1845720"/>
            <a:ext cx="3865680" cy="4021920"/>
          </a:xfrm>
          <a:prstGeom prst="rect">
            <a:avLst/>
          </a:prstGeom>
          <a:ln>
            <a:noFill/>
          </a:ln>
        </p:spPr>
      </p:pic>
      <p:sp>
        <p:nvSpPr>
          <p:cNvPr id="173" name="CustomShape 2"/>
          <p:cNvSpPr/>
          <p:nvPr/>
        </p:nvSpPr>
        <p:spPr bwMode="auto">
          <a:xfrm>
            <a:off x="6217920" y="1845720"/>
            <a:ext cx="4937039" cy="40226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45000" rIns="0" bIns="45000"/>
          <a:lstStyle/>
          <a:p>
            <a:pPr marL="91440" indent="-90720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2000" b="0" strike="noStrike" spc="-1">
                <a:solidFill>
                  <a:srgbClr val="404040"/>
                </a:solidFill>
                <a:latin typeface="Calibri"/>
              </a:rPr>
              <a:t> Rendez-vous à l’adresse suivante: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marL="91440" indent="-90720">
              <a:lnSpc>
                <a:spcPct val="90000"/>
              </a:lnSpc>
              <a:buClr>
                <a:srgbClr val="D34817"/>
              </a:buClr>
              <a:buFont typeface="Calibri"/>
              <a:buChar char=" "/>
              <a:defRPr/>
            </a:pPr>
            <a:r>
              <a:rPr lang="fr-FR" sz="2000" b="0" u="sng" strike="noStrike" spc="-1">
                <a:solidFill>
                  <a:srgbClr val="0000FF"/>
                </a:solidFill>
                <a:latin typeface="Calibri"/>
                <a:hlinkClick r:id="rId3" tooltip="https://activation.app.u-paris.fr/"/>
              </a:rPr>
              <a:t>https://activation.app.u-paris.fr/</a:t>
            </a:r>
            <a:r>
              <a:rPr lang="fr-FR" sz="2000" b="0" strike="noStrike" spc="-1">
                <a:solidFill>
                  <a:srgbClr val="9E3611"/>
                </a:solidFill>
                <a:latin typeface="Calibri"/>
              </a:rPr>
              <a:t>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defRPr/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defRPr/>
            </a:pPr>
            <a:r>
              <a:rPr lang="fr-FR" sz="2000" b="0" strike="noStrike" spc="-1">
                <a:solidFill>
                  <a:srgbClr val="404040"/>
                </a:solidFill>
                <a:latin typeface="Calibri"/>
              </a:rPr>
              <a:t> Puis saisissez votre adresse mail u-paris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marL="91440" indent="-90720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2000" b="0" strike="noStrike" spc="-1">
                <a:solidFill>
                  <a:srgbClr val="404040"/>
                </a:solidFill>
                <a:latin typeface="Calibri"/>
              </a:rPr>
              <a:t> ( </a:t>
            </a:r>
            <a:r>
              <a:rPr lang="fr-FR" sz="2000" b="0" u="sng" strike="noStrike" spc="-1">
                <a:solidFill>
                  <a:srgbClr val="0000FF"/>
                </a:solidFill>
                <a:latin typeface="Calibri"/>
              </a:rPr>
              <a:t>prénom.nom</a:t>
            </a:r>
            <a:r>
              <a:rPr lang="fr-FR" sz="2000" u="sng" spc="-1">
                <a:solidFill>
                  <a:srgbClr val="0000FF"/>
                </a:solidFill>
              </a:rPr>
              <a:t>@etu.u-paris.fr&gt;</a:t>
            </a:r>
            <a:r>
              <a:rPr lang="fr-FR" sz="2000" b="0" strike="noStrike" spc="-1">
                <a:solidFill>
                  <a:srgbClr val="404040"/>
                </a:solidFill>
                <a:latin typeface="Calibri"/>
              </a:rPr>
              <a:t> )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 bwMode="auto">
          <a:xfrm>
            <a:off x="457200" y="594360"/>
            <a:ext cx="3199680" cy="1026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b"/>
          <a:lstStyle/>
          <a:p>
            <a:pPr algn="ctr">
              <a:lnSpc>
                <a:spcPct val="100000"/>
              </a:lnSpc>
              <a:defRPr/>
            </a:pPr>
            <a:r>
              <a:rPr lang="fr-FR" sz="3600" strike="noStrike" spc="-46">
                <a:solidFill>
                  <a:srgbClr val="C00000"/>
                </a:solidFill>
                <a:latin typeface="Arial"/>
              </a:rPr>
              <a:t>Moodle</a:t>
            </a:r>
            <a:endParaRPr lang="fr-FR" sz="1800" strike="noStrike" spc="-1">
              <a:solidFill>
                <a:srgbClr val="C00000"/>
              </a:solidFill>
              <a:latin typeface="Arial"/>
            </a:endParaRPr>
          </a:p>
        </p:txBody>
      </p:sp>
      <p:pic>
        <p:nvPicPr>
          <p:cNvPr id="14" name="Espace réservé du contenu 13"/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4676002" y="527613"/>
            <a:ext cx="7203628" cy="183039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314368" y="2305128"/>
            <a:ext cx="2621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u="sng" spc="-1">
                <a:solidFill>
                  <a:srgbClr val="0000FF"/>
                </a:solidFill>
              </a:rPr>
              <a:t>https://moodle.u-paris.fr/</a:t>
            </a:r>
            <a:endParaRPr lang="fr-FR"/>
          </a:p>
        </p:txBody>
      </p:sp>
      <p:cxnSp>
        <p:nvCxnSpPr>
          <p:cNvPr id="11" name="Connecteur droit avec flèche 10"/>
          <p:cNvCxnSpPr>
            <a:cxnSpLocks/>
          </p:cNvCxnSpPr>
          <p:nvPr/>
        </p:nvCxnSpPr>
        <p:spPr bwMode="auto">
          <a:xfrm flipV="1">
            <a:off x="5181356" y="1620360"/>
            <a:ext cx="850901" cy="1305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cxnSpLocks/>
          </p:cNvCxnSpPr>
          <p:nvPr/>
        </p:nvCxnSpPr>
        <p:spPr bwMode="auto">
          <a:xfrm>
            <a:off x="5181356" y="607567"/>
            <a:ext cx="835758" cy="539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76003" y="2489794"/>
            <a:ext cx="7203628" cy="4297773"/>
          </a:xfrm>
          <a:prstGeom prst="rect">
            <a:avLst/>
          </a:prstGeom>
        </p:spPr>
      </p:pic>
      <p:sp>
        <p:nvSpPr>
          <p:cNvPr id="21" name="Ellipse 20"/>
          <p:cNvSpPr/>
          <p:nvPr/>
        </p:nvSpPr>
        <p:spPr bwMode="auto">
          <a:xfrm>
            <a:off x="11387013" y="2391508"/>
            <a:ext cx="609847" cy="38295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2" name="ZoneTexte 21"/>
          <p:cNvSpPr txBox="1"/>
          <p:nvPr/>
        </p:nvSpPr>
        <p:spPr bwMode="auto">
          <a:xfrm>
            <a:off x="147783" y="2927927"/>
            <a:ext cx="37314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fr-FR"/>
              <a:t>Calendrier de l’UFR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fr-FR"/>
              <a:t>Convocation aux épreuves écrites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fr-FR"/>
              <a:t>Placement aux épreuves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fr-FR"/>
              <a:t>Informations stages….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fr-FR"/>
              <a:t>Formulaires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endParaRPr lang="fr-FR"/>
          </a:p>
          <a:p>
            <a:pPr>
              <a:defRPr/>
            </a:pPr>
            <a:r>
              <a:rPr lang="fr-FR"/>
              <a:t>ATTENTION: certains éléments sont sécurisés; connexion obligatoire</a:t>
            </a:r>
            <a:endParaRPr/>
          </a:p>
          <a:p>
            <a:pPr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391344" y="332656"/>
            <a:ext cx="3400399" cy="1152128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fr-FR" sz="3200" b="1" spc="-46">
                <a:solidFill>
                  <a:srgbClr val="9E3611"/>
                </a:solidFill>
                <a:latin typeface="Arial"/>
              </a:rPr>
              <a:t>Consulter son emploi du temps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9376" y="1484784"/>
            <a:ext cx="2824336" cy="4917019"/>
          </a:xfrm>
          <a:prstGeom prst="rect">
            <a:avLst/>
          </a:prstGeom>
        </p:spPr>
      </p:pic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4655840" y="620688"/>
            <a:ext cx="6492240" cy="5257800"/>
          </a:xfrm>
        </p:spPr>
        <p:txBody>
          <a:bodyPr/>
          <a:lstStyle/>
          <a:p>
            <a:pPr>
              <a:buFont typeface="Arial"/>
              <a:buChar char="•"/>
              <a:defRPr/>
            </a:pPr>
            <a:r>
              <a:rPr lang="fr-FR" b="1" u="none" dirty="0">
                <a:solidFill>
                  <a:srgbClr val="FF0000"/>
                </a:solidFill>
              </a:rPr>
              <a:t>Sur ADE :</a:t>
            </a:r>
            <a:endParaRPr b="1" u="none" spc="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fr-FR" u="sng" spc="-1" dirty="0">
                <a:solidFill>
                  <a:srgbClr val="0000FF"/>
                </a:solidFill>
                <a:hlinkClick r:id="rId3" tooltip="https://mescours.parisdescartes.fr/direct/"/>
              </a:rPr>
              <a:t>https://mescours.parisdescartes.fr/direct</a:t>
            </a:r>
            <a:r>
              <a:rPr lang="fr-FR" sz="1600" u="sng" spc="-1" dirty="0">
                <a:solidFill>
                  <a:srgbClr val="0000FF"/>
                </a:solidFill>
                <a:hlinkClick r:id="rId3" tooltip="https://mescours.parisdescartes.fr/direct/"/>
              </a:rPr>
              <a:t>/</a:t>
            </a:r>
            <a:r>
              <a:rPr lang="fr-FR" sz="1600" u="sng" spc="-1" dirty="0">
                <a:solidFill>
                  <a:srgbClr val="0000FF"/>
                </a:solidFill>
              </a:rPr>
              <a:t> </a:t>
            </a:r>
          </a:p>
          <a:p>
            <a:pPr marL="0" indent="0">
              <a:buNone/>
              <a:defRPr/>
            </a:pPr>
            <a:endParaRPr lang="fr-FR" sz="1600" u="sng" spc="0" dirty="0">
              <a:solidFill>
                <a:srgbClr val="0000FF"/>
              </a:solidFill>
            </a:endParaRPr>
          </a:p>
          <a:p>
            <a:pPr marL="0" indent="0">
              <a:buNone/>
              <a:defRPr/>
            </a:pPr>
            <a:r>
              <a:rPr lang="fr-FR" sz="2000" b="1" i="0" u="none" strike="noStrike" cap="none" spc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Sur MOODLE</a:t>
            </a:r>
            <a:r>
              <a:rPr lang="fr-FR" sz="1600" b="1" i="0" u="none" strike="noStrike" cap="none" spc="0" dirty="0">
                <a:solidFill>
                  <a:srgbClr val="FF0000"/>
                </a:solidFill>
                <a:latin typeface="Calibri"/>
                <a:ea typeface="Arial"/>
                <a:cs typeface="Arial"/>
              </a:rPr>
              <a:t> :</a:t>
            </a:r>
            <a:r>
              <a:rPr lang="fr-FR" sz="1600" u="none" spc="0" dirty="0">
                <a:solidFill>
                  <a:srgbClr val="0000FF"/>
                </a:solidFill>
              </a:rPr>
              <a:t> « </a:t>
            </a:r>
            <a:r>
              <a:rPr lang="fr-FR" sz="1600" i="1" u="none" spc="0" dirty="0">
                <a:solidFill>
                  <a:schemeClr val="tx1"/>
                </a:solidFill>
              </a:rPr>
              <a:t>emploi du temps »</a:t>
            </a:r>
          </a:p>
          <a:p>
            <a:pPr marL="0" indent="0">
              <a:buNone/>
              <a:defRPr/>
            </a:pPr>
            <a:r>
              <a:rPr lang="fr-FR" sz="1600" i="1" u="none" spc="0" dirty="0">
                <a:solidFill>
                  <a:schemeClr val="tx1"/>
                </a:solidFill>
              </a:rPr>
              <a:t>Consultation : </a:t>
            </a:r>
            <a:r>
              <a:rPr lang="fr-FR" sz="1600" u="sng" spc="-1" dirty="0">
                <a:solidFill>
                  <a:srgbClr val="0000FF"/>
                </a:solidFill>
              </a:rPr>
              <a:t> </a:t>
            </a:r>
            <a:r>
              <a:rPr lang="fr-FR" u="sng" dirty="0">
                <a:hlinkClick r:id="rId4" tooltip="https://helios2.mi.parisdescartes.fr/~graff/Edt-2022/Edt-L2.html"/>
              </a:rPr>
              <a:t>https://helios2.mi.parisdescartes.fr/~</a:t>
            </a:r>
            <a:r>
              <a:rPr lang="fr-FR" u="sng" dirty="0" smtClean="0">
                <a:hlinkClick r:id="rId4" tooltip="https://helios2.mi.parisdescartes.fr/~graff/Edt-2022/Edt-L2.html"/>
              </a:rPr>
              <a:t>graff/Edt-2022/Edt-L2.html</a:t>
            </a:r>
            <a:endParaRPr lang="fr-FR" sz="1600" i="1" u="none" spc="0" dirty="0">
              <a:solidFill>
                <a:schemeClr val="tx1"/>
              </a:solidFill>
            </a:endParaRPr>
          </a:p>
          <a:p>
            <a:pPr marL="0" indent="0">
              <a:buClr>
                <a:schemeClr val="accent1"/>
              </a:buClr>
              <a:buSzPct val="100000"/>
              <a:buFont typeface="Calibri"/>
              <a:buNone/>
              <a:defRPr/>
            </a:pPr>
            <a:r>
              <a:rPr lang="fr-FR" sz="1600" b="0" i="1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Synchronisation de votre agenda :  explication et </a:t>
            </a:r>
            <a:r>
              <a:rPr lang="fr-FR" sz="1600" b="0" i="1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lien+QR</a:t>
            </a:r>
            <a:r>
              <a:rPr lang="fr-FR" sz="1600" b="0" i="1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code </a:t>
            </a:r>
            <a:endParaRPr u="none" dirty="0"/>
          </a:p>
          <a:p>
            <a:pPr>
              <a:defRPr/>
            </a:pPr>
            <a:endParaRPr lang="fr-FR" sz="1600" u="sng" spc="-1" dirty="0">
              <a:solidFill>
                <a:srgbClr val="0000FF"/>
              </a:solidFill>
            </a:endParaRPr>
          </a:p>
          <a:p>
            <a:pPr>
              <a:defRPr/>
            </a:pPr>
            <a:r>
              <a:rPr lang="fr-FR" sz="1600" u="sng" spc="-1" dirty="0">
                <a:solidFill>
                  <a:srgbClr val="0000FF"/>
                </a:solidFill>
              </a:rPr>
              <a:t/>
            </a:r>
            <a:br>
              <a:rPr lang="fr-FR" sz="1600" u="sng" spc="-1" dirty="0">
                <a:solidFill>
                  <a:srgbClr val="0000FF"/>
                </a:solidFill>
              </a:rPr>
            </a:br>
            <a:endParaRPr lang="fr-FR" sz="1600" dirty="0"/>
          </a:p>
          <a:p>
            <a:pPr>
              <a:defRPr/>
            </a:pPr>
            <a:endParaRPr lang="fr-FR" dirty="0"/>
          </a:p>
        </p:txBody>
      </p:sp>
      <p:sp>
        <p:nvSpPr>
          <p:cNvPr id="117908497" name="ZoneTexte 117908496"/>
          <p:cNvSpPr txBox="1"/>
          <p:nvPr/>
        </p:nvSpPr>
        <p:spPr bwMode="auto">
          <a:xfrm>
            <a:off x="7990849" y="3125679"/>
            <a:ext cx="914400" cy="365795"/>
          </a:xfrm>
          <a:prstGeom prst="rect">
            <a:avLst/>
          </a:prstGeom>
          <a:noFill/>
        </p:spPr>
        <p:txBody>
          <a:bodyPr vertOverflow="overflow" horzOverflow="clip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808" y="3789040"/>
            <a:ext cx="7498110" cy="2935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457200" y="594358"/>
            <a:ext cx="3200400" cy="828041"/>
          </a:xfrm>
        </p:spPr>
        <p:txBody>
          <a:bodyPr/>
          <a:lstStyle/>
          <a:p>
            <a:pPr algn="ctr">
              <a:defRPr/>
            </a:pPr>
            <a:r>
              <a:rPr lang="fr-FR" b="1" spc="-46">
                <a:solidFill>
                  <a:srgbClr val="9E3611"/>
                </a:solidFill>
                <a:latin typeface="Arial"/>
              </a:rPr>
              <a:t>Focus</a:t>
            </a:r>
            <a:endParaRPr lang="fr-FR" b="1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4356846" y="421680"/>
            <a:ext cx="7584140" cy="6144159"/>
          </a:xfrm>
        </p:spPr>
        <p:txBody>
          <a:bodyPr vertOverflow="overflow" horzOverflow="clip" vert="horz" wrap="square" lIns="0" tIns="45720" rIns="0" bIns="45720" numCol="1" spcCol="0" rtlCol="0" fromWordArt="0" anchor="t" anchorCtr="0" forceAA="0" compatLnSpc="0">
            <a:normAutofit fontScale="50000" lnSpcReduction="20000"/>
          </a:bodyPr>
          <a:lstStyle/>
          <a:p>
            <a:pPr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3400" spc="-1" dirty="0">
                <a:solidFill>
                  <a:srgbClr val="C00000"/>
                </a:solidFill>
              </a:rPr>
              <a:t>1</a:t>
            </a:r>
            <a:r>
              <a:rPr lang="fr-FR" sz="3400" spc="-1" baseline="30000" dirty="0">
                <a:solidFill>
                  <a:srgbClr val="C00000"/>
                </a:solidFill>
              </a:rPr>
              <a:t>er</a:t>
            </a:r>
            <a:r>
              <a:rPr lang="fr-FR" sz="3400" spc="-1" dirty="0">
                <a:solidFill>
                  <a:srgbClr val="C00000"/>
                </a:solidFill>
              </a:rPr>
              <a:t> septembre 13h au </a:t>
            </a:r>
            <a:r>
              <a:rPr lang="fr-FR" sz="3400" spc="-1" dirty="0" smtClean="0">
                <a:solidFill>
                  <a:srgbClr val="C00000"/>
                </a:solidFill>
              </a:rPr>
              <a:t>5 septembre</a:t>
            </a:r>
            <a:endParaRPr lang="fr-FR" sz="3400" spc="-1" dirty="0">
              <a:solidFill>
                <a:srgbClr val="000000"/>
              </a:solidFill>
            </a:endParaRPr>
          </a:p>
          <a:p>
            <a:pPr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3400" spc="-1" dirty="0">
                <a:solidFill>
                  <a:srgbClr val="404040"/>
                </a:solidFill>
              </a:rPr>
              <a:t> Lien sur le site de </a:t>
            </a:r>
            <a:r>
              <a:rPr lang="fr-FR" sz="3400" spc="-1" dirty="0" err="1">
                <a:solidFill>
                  <a:srgbClr val="404040"/>
                </a:solidFill>
              </a:rPr>
              <a:t>l’Ufr</a:t>
            </a:r>
            <a:r>
              <a:rPr lang="fr-FR" sz="3400" spc="-1" dirty="0">
                <a:solidFill>
                  <a:srgbClr val="404040"/>
                </a:solidFill>
              </a:rPr>
              <a:t> </a:t>
            </a:r>
            <a:r>
              <a:rPr lang="fr-FR" sz="3400" u="sng" spc="-1" dirty="0">
                <a:solidFill>
                  <a:srgbClr val="0000FF"/>
                </a:solidFill>
                <a:hlinkClick r:id="rId2" tooltip="https://ipweb.app.u-paris.fr/ipweb"/>
              </a:rPr>
              <a:t>https://ipweb.app.u-paris.fr/ipweb</a:t>
            </a:r>
            <a:r>
              <a:rPr lang="fr-FR" sz="3400" spc="-1" dirty="0">
                <a:solidFill>
                  <a:srgbClr val="404040"/>
                </a:solidFill>
              </a:rPr>
              <a:t> </a:t>
            </a:r>
            <a:endParaRPr lang="fr-FR" sz="3400" spc="-1" dirty="0">
              <a:solidFill>
                <a:srgbClr val="000000"/>
              </a:solidFill>
            </a:endParaRPr>
          </a:p>
          <a:p>
            <a:pPr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3400" spc="-1" dirty="0">
                <a:solidFill>
                  <a:srgbClr val="FF0000"/>
                </a:solidFill>
              </a:rPr>
              <a:t>AJAC : </a:t>
            </a:r>
            <a:r>
              <a:rPr lang="fr-FR" sz="3400" spc="-1" dirty="0">
                <a:solidFill>
                  <a:srgbClr val="404040"/>
                </a:solidFill>
              </a:rPr>
              <a:t>Ajourné Autorisé  à Continuer: </a:t>
            </a:r>
            <a:r>
              <a:rPr lang="fr-FR" sz="3400" spc="-1" dirty="0" smtClean="0">
                <a:solidFill>
                  <a:srgbClr val="404040"/>
                </a:solidFill>
              </a:rPr>
              <a:t>inscription pédagogique </a:t>
            </a:r>
            <a:r>
              <a:rPr lang="fr-FR" sz="3400" spc="-1" dirty="0">
                <a:solidFill>
                  <a:srgbClr val="404040"/>
                </a:solidFill>
              </a:rPr>
              <a:t>sur l’année supérieure à toutes les UE et suivre tous les cours.</a:t>
            </a:r>
            <a:endParaRPr lang="fr-FR" sz="3400" spc="-1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defRPr/>
            </a:pPr>
            <a:r>
              <a:rPr lang="fr-FR" sz="3400" spc="-1" dirty="0">
                <a:solidFill>
                  <a:srgbClr val="404040"/>
                </a:solidFill>
              </a:rPr>
              <a:t>Résultat L1 AJAC &gt; inscrit en L2 = tous les cours de L2 </a:t>
            </a:r>
            <a:r>
              <a:rPr lang="fr-FR" sz="3400" spc="-1" dirty="0" smtClean="0">
                <a:solidFill>
                  <a:srgbClr val="404040"/>
                </a:solidFill>
              </a:rPr>
              <a:t>(IP </a:t>
            </a:r>
            <a:r>
              <a:rPr lang="fr-FR" sz="3400" spc="-1" dirty="0">
                <a:solidFill>
                  <a:srgbClr val="404040"/>
                </a:solidFill>
              </a:rPr>
              <a:t>en </a:t>
            </a:r>
            <a:r>
              <a:rPr lang="fr-FR" sz="3400" spc="-1" dirty="0" smtClean="0">
                <a:solidFill>
                  <a:srgbClr val="404040"/>
                </a:solidFill>
              </a:rPr>
              <a:t>ligne)</a:t>
            </a:r>
          </a:p>
          <a:p>
            <a:pPr algn="just">
              <a:lnSpc>
                <a:spcPct val="100000"/>
              </a:lnSpc>
              <a:defRPr/>
            </a:pPr>
            <a:r>
              <a:rPr lang="fr-FR" sz="3400" spc="-1" dirty="0" smtClean="0">
                <a:solidFill>
                  <a:srgbClr val="404040"/>
                </a:solidFill>
              </a:rPr>
              <a:t> </a:t>
            </a:r>
            <a:r>
              <a:rPr lang="fr-FR" sz="3400" spc="-1" dirty="0">
                <a:solidFill>
                  <a:srgbClr val="404040"/>
                </a:solidFill>
              </a:rPr>
              <a:t>+ </a:t>
            </a:r>
            <a:r>
              <a:rPr lang="fr-FR" sz="3400" spc="-1" dirty="0" err="1">
                <a:solidFill>
                  <a:srgbClr val="404040"/>
                </a:solidFill>
              </a:rPr>
              <a:t>UEs</a:t>
            </a:r>
            <a:r>
              <a:rPr lang="fr-FR" sz="3400" spc="-1" dirty="0">
                <a:solidFill>
                  <a:srgbClr val="404040"/>
                </a:solidFill>
              </a:rPr>
              <a:t> de L1 non validées </a:t>
            </a:r>
            <a:r>
              <a:rPr lang="fr-FR" sz="3400" spc="-1" dirty="0" smtClean="0">
                <a:solidFill>
                  <a:srgbClr val="404040"/>
                </a:solidFill>
              </a:rPr>
              <a:t>à partir </a:t>
            </a:r>
            <a:r>
              <a:rPr lang="fr-FR" sz="3400" u="sng" spc="-1" dirty="0" smtClean="0">
                <a:solidFill>
                  <a:srgbClr val="404040"/>
                </a:solidFill>
              </a:rPr>
              <a:t>de demain </a:t>
            </a:r>
            <a:r>
              <a:rPr lang="fr-FR" sz="3400" spc="-1" dirty="0" smtClean="0">
                <a:solidFill>
                  <a:srgbClr val="404040"/>
                </a:solidFill>
              </a:rPr>
              <a:t>sur rendez-vous à la scolarité</a:t>
            </a:r>
            <a:endParaRPr lang="fr-FR" sz="3400" spc="-1" dirty="0">
              <a:solidFill>
                <a:srgbClr val="000000"/>
              </a:solidFill>
            </a:endParaRPr>
          </a:p>
          <a:p>
            <a:pPr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3400" spc="-1" dirty="0">
                <a:solidFill>
                  <a:srgbClr val="FF0000"/>
                </a:solidFill>
              </a:rPr>
              <a:t>Crédits: </a:t>
            </a:r>
            <a:r>
              <a:rPr lang="fr-FR" sz="3400" spc="-1" dirty="0">
                <a:solidFill>
                  <a:srgbClr val="404040"/>
                </a:solidFill>
              </a:rPr>
              <a:t>Formulaire en ligne (Moodle)</a:t>
            </a:r>
            <a:endParaRPr lang="fr-FR" sz="3400" spc="-1" dirty="0">
              <a:solidFill>
                <a:srgbClr val="000000"/>
              </a:solidFill>
            </a:endParaRPr>
          </a:p>
          <a:p>
            <a:pPr marL="343620" indent="-342900" algn="just">
              <a:lnSpc>
                <a:spcPct val="100000"/>
              </a:lnSpc>
              <a:buClr>
                <a:srgbClr val="D34817"/>
              </a:buClr>
              <a:buFont typeface="Arial"/>
              <a:buChar char="•"/>
              <a:defRPr/>
            </a:pPr>
            <a:r>
              <a:rPr lang="fr-FR" sz="3500" spc="-1" dirty="0">
                <a:solidFill>
                  <a:srgbClr val="404040"/>
                </a:solidFill>
              </a:rPr>
              <a:t>Convocation par le responsable de l’année et acceptation de sa part</a:t>
            </a:r>
            <a:endParaRPr dirty="0"/>
          </a:p>
          <a:p>
            <a:pPr marL="343620" indent="-342900" algn="just">
              <a:lnSpc>
                <a:spcPct val="100000"/>
              </a:lnSpc>
              <a:buClr>
                <a:srgbClr val="D34817"/>
              </a:buClr>
              <a:buFont typeface="Arial"/>
              <a:buChar char="•"/>
              <a:defRPr/>
            </a:pPr>
            <a:r>
              <a:rPr lang="fr-FR" sz="3500" spc="-1" dirty="0">
                <a:solidFill>
                  <a:srgbClr val="404040"/>
                </a:solidFill>
              </a:rPr>
              <a:t>Inscription  sur les places vacantes </a:t>
            </a:r>
            <a:endParaRPr lang="fr-FR" sz="3500" spc="-1" dirty="0" smtClean="0">
              <a:solidFill>
                <a:srgbClr val="404040"/>
              </a:solidFill>
            </a:endParaRPr>
          </a:p>
          <a:p>
            <a:pPr marL="457920" indent="-457200" algn="just">
              <a:lnSpc>
                <a:spcPct val="100000"/>
              </a:lnSpc>
              <a:buClr>
                <a:srgbClr val="D34817"/>
              </a:buClr>
              <a:buFont typeface="Wingdings" panose="05000000000000000000" pitchFamily="2" charset="2"/>
              <a:buChar char="Ø"/>
              <a:defRPr/>
            </a:pPr>
            <a:r>
              <a:rPr lang="fr-FR" sz="3400" spc="-1" dirty="0" smtClean="0">
                <a:solidFill>
                  <a:srgbClr val="FF0000"/>
                </a:solidFill>
              </a:rPr>
              <a:t>Suivi </a:t>
            </a:r>
            <a:r>
              <a:rPr lang="fr-FR" sz="3400" spc="-1" dirty="0">
                <a:solidFill>
                  <a:srgbClr val="FF0000"/>
                </a:solidFill>
              </a:rPr>
              <a:t>médical</a:t>
            </a:r>
            <a:endParaRPr dirty="0"/>
          </a:p>
          <a:p>
            <a:pPr marL="343620" indent="-342900" algn="just">
              <a:lnSpc>
                <a:spcPct val="100000"/>
              </a:lnSpc>
              <a:buClr>
                <a:srgbClr val="D34817"/>
              </a:buClr>
              <a:buFont typeface="Arial"/>
              <a:buChar char="•"/>
              <a:defRPr/>
            </a:pPr>
            <a:r>
              <a:rPr lang="fr-FR" sz="3400" spc="-1" dirty="0">
                <a:solidFill>
                  <a:srgbClr val="404040"/>
                </a:solidFill>
              </a:rPr>
              <a:t>Protocole N-1 valable jusqu’au </a:t>
            </a:r>
            <a:r>
              <a:rPr lang="fr-FR" sz="3400" b="1" spc="-1" dirty="0">
                <a:solidFill>
                  <a:srgbClr val="9E3611"/>
                </a:solidFill>
              </a:rPr>
              <a:t>20 Octobre</a:t>
            </a:r>
            <a:endParaRPr lang="fr-FR" sz="3400" spc="-1" dirty="0">
              <a:solidFill>
                <a:srgbClr val="000000"/>
              </a:solidFill>
            </a:endParaRPr>
          </a:p>
          <a:p>
            <a:pPr marL="343620" indent="-342900" algn="just">
              <a:lnSpc>
                <a:spcPct val="100000"/>
              </a:lnSpc>
              <a:buClr>
                <a:srgbClr val="D34817"/>
              </a:buClr>
              <a:buFont typeface="Arial"/>
              <a:buChar char="•"/>
              <a:defRPr/>
            </a:pPr>
            <a:r>
              <a:rPr lang="fr-FR" sz="3400" spc="-1" dirty="0">
                <a:solidFill>
                  <a:srgbClr val="404040"/>
                </a:solidFill>
              </a:rPr>
              <a:t>Date limite de réalisation de la procédure: </a:t>
            </a:r>
            <a:r>
              <a:rPr lang="fr-FR" sz="3400" b="1" spc="-1" dirty="0">
                <a:solidFill>
                  <a:srgbClr val="9E3611"/>
                </a:solidFill>
              </a:rPr>
              <a:t>19 Novembre </a:t>
            </a:r>
            <a:endParaRPr lang="fr-FR" sz="3400" spc="-1" dirty="0">
              <a:solidFill>
                <a:srgbClr val="000000"/>
              </a:solidFill>
            </a:endParaRPr>
          </a:p>
          <a:p>
            <a:pPr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z="3400" spc="-1" dirty="0">
                <a:solidFill>
                  <a:srgbClr val="404040"/>
                </a:solidFill>
              </a:rPr>
              <a:t> </a:t>
            </a:r>
            <a:r>
              <a:rPr lang="fr-FR" sz="3400" spc="-1" dirty="0">
                <a:solidFill>
                  <a:srgbClr val="FF0000"/>
                </a:solidFill>
              </a:rPr>
              <a:t>Étudiant salarié / artiste / sportif de haut niveau</a:t>
            </a:r>
            <a:endParaRPr dirty="0"/>
          </a:p>
          <a:p>
            <a:pPr marL="343620" indent="-342900" algn="just">
              <a:lnSpc>
                <a:spcPct val="100000"/>
              </a:lnSpc>
              <a:buClr>
                <a:srgbClr val="D34817"/>
              </a:buClr>
              <a:buFont typeface="Arial"/>
              <a:buChar char="•"/>
              <a:defRPr/>
            </a:pPr>
            <a:r>
              <a:rPr lang="fr-FR" sz="3400" spc="-1" dirty="0">
                <a:solidFill>
                  <a:srgbClr val="404040"/>
                </a:solidFill>
              </a:rPr>
              <a:t>Choix des groupes privilégiés </a:t>
            </a:r>
            <a:r>
              <a:rPr lang="fr-FR" sz="3400" b="1" spc="-1" dirty="0">
                <a:solidFill>
                  <a:srgbClr val="C00000"/>
                </a:solidFill>
              </a:rPr>
              <a:t>sur justificatif</a:t>
            </a:r>
            <a:r>
              <a:rPr lang="fr-FR" sz="3400" spc="-1" dirty="0">
                <a:solidFill>
                  <a:srgbClr val="404040"/>
                </a:solidFill>
              </a:rPr>
              <a:t>. Modification à la scolarité en fonction des places disponibles</a:t>
            </a:r>
            <a:endParaRPr lang="fr-FR" sz="3400" spc="-1" dirty="0">
              <a:solidFill>
                <a:srgbClr val="000000"/>
              </a:solidFill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457200" y="2307243"/>
            <a:ext cx="3200400" cy="3379124"/>
          </a:xfrm>
        </p:spPr>
        <p:txBody>
          <a:bodyPr/>
          <a:lstStyle/>
          <a:p>
            <a:pPr algn="ctr">
              <a:defRPr/>
            </a:pPr>
            <a:r>
              <a:rPr lang="fr-FR" sz="2400" b="1" spc="-46" dirty="0">
                <a:solidFill>
                  <a:srgbClr val="9E3611"/>
                </a:solidFill>
                <a:latin typeface="Arial"/>
              </a:rPr>
              <a:t>Inscription pédagogique</a:t>
            </a:r>
            <a:endParaRPr lang="fr-FR" sz="2400" b="1" spc="-1" dirty="0">
              <a:solidFill>
                <a:srgbClr val="000000"/>
              </a:solidFill>
              <a:latin typeface="Arial"/>
            </a:endParaRPr>
          </a:p>
          <a:p>
            <a:pPr algn="ctr">
              <a:defRPr/>
            </a:pP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457200" y="594358"/>
            <a:ext cx="3200400" cy="1105132"/>
          </a:xfrm>
        </p:spPr>
        <p:txBody>
          <a:bodyPr/>
          <a:lstStyle/>
          <a:p>
            <a:pPr algn="ctr">
              <a:defRPr/>
            </a:pPr>
            <a:r>
              <a:rPr lang="fr-FR" b="1" spc="-46">
                <a:solidFill>
                  <a:srgbClr val="9E3611"/>
                </a:solidFill>
                <a:latin typeface="Arial"/>
              </a:rPr>
              <a:t>Focus</a:t>
            </a:r>
            <a:r>
              <a:rPr lang="fr-FR" sz="2400" spc="-1">
                <a:solidFill>
                  <a:srgbClr val="000000"/>
                </a:solidFill>
                <a:latin typeface="Arial"/>
              </a:rPr>
              <a:t/>
            </a:r>
            <a:br>
              <a:rPr lang="fr-FR" sz="2400" spc="-1">
                <a:solidFill>
                  <a:srgbClr val="000000"/>
                </a:solidFill>
                <a:latin typeface="Arial"/>
              </a:rPr>
            </a:b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indent="-90720">
              <a:lnSpc>
                <a:spcPct val="100000"/>
              </a:lnSpc>
              <a:buClr>
                <a:srgbClr val="FF3300"/>
              </a:buClr>
              <a:buFont typeface="Wingdings"/>
              <a:buChar char=""/>
              <a:defRPr/>
            </a:pPr>
            <a:r>
              <a:rPr lang="fr-FR" spc="-1" dirty="0">
                <a:solidFill>
                  <a:srgbClr val="404040"/>
                </a:solidFill>
              </a:rPr>
              <a:t> Justificatif </a:t>
            </a:r>
            <a:endParaRPr lang="fr-FR" spc="-1" dirty="0">
              <a:solidFill>
                <a:srgbClr val="000000"/>
              </a:solidFill>
              <a:latin typeface="Arial"/>
            </a:endParaRPr>
          </a:p>
          <a:p>
            <a:pPr marL="201240" algn="just">
              <a:lnSpc>
                <a:spcPct val="100000"/>
              </a:lnSpc>
              <a:defRPr/>
            </a:pPr>
            <a:r>
              <a:rPr lang="fr-FR" spc="-1" dirty="0">
                <a:solidFill>
                  <a:srgbClr val="D34817"/>
                </a:solidFill>
              </a:rPr>
              <a:t>- </a:t>
            </a:r>
            <a:r>
              <a:rPr lang="fr-FR" spc="-1" dirty="0">
                <a:solidFill>
                  <a:srgbClr val="404040"/>
                </a:solidFill>
              </a:rPr>
              <a:t> 48 h maximum après le retour en cours </a:t>
            </a:r>
            <a:endParaRPr lang="fr-FR" spc="-1" dirty="0">
              <a:solidFill>
                <a:srgbClr val="000000"/>
              </a:solidFill>
              <a:latin typeface="Arial"/>
            </a:endParaRPr>
          </a:p>
          <a:p>
            <a:pPr marL="201240" algn="just">
              <a:lnSpc>
                <a:spcPct val="100000"/>
              </a:lnSpc>
              <a:defRPr/>
            </a:pPr>
            <a:r>
              <a:rPr lang="fr-FR" spc="-1" dirty="0">
                <a:solidFill>
                  <a:srgbClr val="D34817"/>
                </a:solidFill>
              </a:rPr>
              <a:t>-</a:t>
            </a:r>
            <a:r>
              <a:rPr lang="fr-FR" spc="-1" dirty="0">
                <a:solidFill>
                  <a:srgbClr val="404040"/>
                </a:solidFill>
              </a:rPr>
              <a:t>  Justificatif en </a:t>
            </a:r>
            <a:r>
              <a:rPr lang="fr-FR" spc="-1" dirty="0" smtClean="0">
                <a:solidFill>
                  <a:srgbClr val="404040"/>
                </a:solidFill>
              </a:rPr>
              <a:t>français</a:t>
            </a:r>
            <a:endParaRPr lang="fr-FR" spc="-1" dirty="0">
              <a:solidFill>
                <a:srgbClr val="000000"/>
              </a:solidFill>
              <a:latin typeface="Arial"/>
            </a:endParaRPr>
          </a:p>
          <a:p>
            <a:pPr indent="-90720">
              <a:lnSpc>
                <a:spcPct val="100000"/>
              </a:lnSpc>
              <a:buClr>
                <a:srgbClr val="FF3300"/>
              </a:buClr>
              <a:buFont typeface="Wingdings"/>
              <a:buChar char=""/>
              <a:defRPr/>
            </a:pPr>
            <a:r>
              <a:rPr lang="fr-FR" spc="-1" dirty="0">
                <a:solidFill>
                  <a:srgbClr val="404040"/>
                </a:solidFill>
              </a:rPr>
              <a:t> 4 Motifs recevables</a:t>
            </a:r>
            <a:endParaRPr lang="fr-FR" spc="-1" dirty="0">
              <a:solidFill>
                <a:srgbClr val="000000"/>
              </a:solidFill>
              <a:latin typeface="Arial"/>
            </a:endParaRPr>
          </a:p>
          <a:p>
            <a:pPr marL="201240" algn="just">
              <a:lnSpc>
                <a:spcPct val="100000"/>
              </a:lnSpc>
              <a:defRPr/>
            </a:pPr>
            <a:r>
              <a:rPr lang="fr-FR" spc="-1" dirty="0">
                <a:solidFill>
                  <a:srgbClr val="D34817"/>
                </a:solidFill>
              </a:rPr>
              <a:t>- </a:t>
            </a:r>
            <a:r>
              <a:rPr lang="fr-FR" spc="-1" dirty="0">
                <a:solidFill>
                  <a:srgbClr val="404040"/>
                </a:solidFill>
              </a:rPr>
              <a:t> Certificat médical au nom de l’étudiant par un docteur avec lequel il n’a pas de lien de parenté </a:t>
            </a:r>
            <a:endParaRPr lang="fr-FR" spc="-1" dirty="0">
              <a:solidFill>
                <a:srgbClr val="000000"/>
              </a:solidFill>
              <a:latin typeface="Arial"/>
            </a:endParaRPr>
          </a:p>
          <a:p>
            <a:pPr marL="201240" algn="just">
              <a:lnSpc>
                <a:spcPct val="100000"/>
              </a:lnSpc>
              <a:defRPr/>
            </a:pPr>
            <a:r>
              <a:rPr lang="fr-FR" spc="-1" dirty="0">
                <a:solidFill>
                  <a:srgbClr val="D34817"/>
                </a:solidFill>
              </a:rPr>
              <a:t>- </a:t>
            </a:r>
            <a:r>
              <a:rPr lang="fr-FR" spc="-1" dirty="0">
                <a:solidFill>
                  <a:srgbClr val="404040"/>
                </a:solidFill>
              </a:rPr>
              <a:t> Certificat d’hospitalisation</a:t>
            </a:r>
            <a:endParaRPr lang="fr-FR" spc="-1" dirty="0">
              <a:solidFill>
                <a:srgbClr val="000000"/>
              </a:solidFill>
              <a:latin typeface="Arial"/>
            </a:endParaRPr>
          </a:p>
          <a:p>
            <a:pPr marL="201240" algn="just">
              <a:lnSpc>
                <a:spcPct val="100000"/>
              </a:lnSpc>
              <a:defRPr/>
            </a:pPr>
            <a:r>
              <a:rPr lang="fr-FR" spc="-1" dirty="0">
                <a:solidFill>
                  <a:srgbClr val="D34817"/>
                </a:solidFill>
              </a:rPr>
              <a:t>-</a:t>
            </a:r>
            <a:r>
              <a:rPr lang="fr-FR" spc="-1" dirty="0">
                <a:solidFill>
                  <a:srgbClr val="404040"/>
                </a:solidFill>
              </a:rPr>
              <a:t> Acte de décès d’un membre de la famille proche de l’étudiant (ascendant / descendant /fratrie)</a:t>
            </a:r>
            <a:endParaRPr lang="fr-FR" spc="-1" dirty="0">
              <a:solidFill>
                <a:srgbClr val="000000"/>
              </a:solidFill>
              <a:latin typeface="Arial"/>
            </a:endParaRPr>
          </a:p>
          <a:p>
            <a:pPr marL="201240" algn="just">
              <a:lnSpc>
                <a:spcPct val="100000"/>
              </a:lnSpc>
              <a:defRPr/>
            </a:pPr>
            <a:r>
              <a:rPr lang="fr-FR" spc="-1" dirty="0">
                <a:solidFill>
                  <a:srgbClr val="D34817"/>
                </a:solidFill>
              </a:rPr>
              <a:t>-</a:t>
            </a:r>
            <a:r>
              <a:rPr lang="fr-FR" spc="-1" dirty="0">
                <a:solidFill>
                  <a:srgbClr val="404040"/>
                </a:solidFill>
              </a:rPr>
              <a:t> Certificat administratif ( convocation à un concours administratif )</a:t>
            </a:r>
            <a:endParaRPr lang="fr-FR" spc="-1" dirty="0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457200" y="2610196"/>
            <a:ext cx="3200400" cy="337912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fr-FR" sz="2400" b="1" spc="-46">
                <a:solidFill>
                  <a:srgbClr val="9E3611"/>
                </a:solidFill>
                <a:latin typeface="Arial"/>
              </a:rPr>
              <a:t>Absences</a:t>
            </a:r>
            <a:r>
              <a:rPr lang="fr-FR" sz="2400" spc="-1">
                <a:solidFill>
                  <a:srgbClr val="000000"/>
                </a:solidFill>
                <a:latin typeface="Arial"/>
              </a:rPr>
              <a:t/>
            </a:r>
            <a:br>
              <a:rPr lang="fr-FR" sz="2400" spc="-1">
                <a:solidFill>
                  <a:srgbClr val="000000"/>
                </a:solidFill>
                <a:latin typeface="Arial"/>
              </a:rPr>
            </a:br>
            <a:endParaRPr lang="fr-FR" sz="2400" spc="-1">
              <a:solidFill>
                <a:srgbClr val="000000"/>
              </a:solidFill>
              <a:latin typeface="Arial"/>
            </a:endParaRPr>
          </a:p>
          <a:p>
            <a:pPr algn="ctr">
              <a:defRPr/>
            </a:pPr>
            <a:endParaRPr lang="fr-FR" sz="2400" spc="-1">
              <a:solidFill>
                <a:srgbClr val="000000"/>
              </a:solidFill>
              <a:latin typeface="Arial"/>
            </a:endParaRPr>
          </a:p>
          <a:p>
            <a:pPr algn="ctr">
              <a:defRPr/>
            </a:pPr>
            <a:endParaRPr lang="fr-FR" sz="2400" spc="-1">
              <a:solidFill>
                <a:srgbClr val="000000"/>
              </a:solidFill>
              <a:latin typeface="Arial"/>
            </a:endParaRPr>
          </a:p>
          <a:p>
            <a:pPr algn="ctr">
              <a:defRPr/>
            </a:pPr>
            <a:r>
              <a:rPr lang="fr-FR" sz="2000" i="1" spc="-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Absence justifiée  ne veut pas dire épreuve  reportée ou note neutralisée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539172" y="785411"/>
            <a:ext cx="3200400" cy="646225"/>
          </a:xfrm>
        </p:spPr>
        <p:txBody>
          <a:bodyPr/>
          <a:lstStyle/>
          <a:p>
            <a:pPr algn="ctr">
              <a:defRPr/>
            </a:pPr>
            <a:r>
              <a:rPr lang="fr-FR" b="1" spc="-46">
                <a:solidFill>
                  <a:srgbClr val="9E3611"/>
                </a:solidFill>
                <a:latin typeface="Arial"/>
              </a:rPr>
              <a:t>Focus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4800600" y="731520"/>
            <a:ext cx="6781800" cy="5257800"/>
          </a:xfrm>
        </p:spPr>
        <p:txBody>
          <a:bodyPr>
            <a:normAutofit/>
          </a:bodyPr>
          <a:lstStyle/>
          <a:p>
            <a:pPr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pc="-1">
                <a:solidFill>
                  <a:srgbClr val="FF3300"/>
                </a:solidFill>
              </a:rPr>
              <a:t> </a:t>
            </a:r>
            <a:r>
              <a:rPr lang="fr-FR" spc="-1">
                <a:solidFill>
                  <a:srgbClr val="404040"/>
                </a:solidFill>
              </a:rPr>
              <a:t>Demande de </a:t>
            </a:r>
            <a:r>
              <a:rPr lang="fr-FR" spc="-1">
                <a:solidFill>
                  <a:srgbClr val="C00000"/>
                </a:solidFill>
              </a:rPr>
              <a:t>dérogation </a:t>
            </a:r>
            <a:r>
              <a:rPr lang="fr-FR" spc="-1">
                <a:solidFill>
                  <a:srgbClr val="404040"/>
                </a:solidFill>
              </a:rPr>
              <a:t>au Contrôle Continu </a:t>
            </a:r>
            <a:endParaRPr/>
          </a:p>
          <a:p>
            <a:pPr lvl="1"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pc="-1">
                <a:solidFill>
                  <a:srgbClr val="404040"/>
                </a:solidFill>
              </a:rPr>
              <a:t>Formulaire sur MOODLE : date limite </a:t>
            </a:r>
            <a:r>
              <a:rPr lang="fr-FR" spc="-1">
                <a:solidFill>
                  <a:srgbClr val="C00000"/>
                </a:solidFill>
              </a:rPr>
              <a:t>14 Octobre pour le S1 </a:t>
            </a:r>
            <a:endParaRPr lang="fr-FR" spc="-1">
              <a:solidFill>
                <a:srgbClr val="000000"/>
              </a:solidFill>
              <a:latin typeface="Arial"/>
            </a:endParaRPr>
          </a:p>
          <a:p>
            <a:pPr lvl="1"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pc="-1">
                <a:solidFill>
                  <a:srgbClr val="404040"/>
                </a:solidFill>
              </a:rPr>
              <a:t>Pas de demande de dérogation &gt; absence</a:t>
            </a:r>
            <a:r>
              <a:rPr lang="fr-FR" spc="-1">
                <a:solidFill>
                  <a:srgbClr val="0066CC"/>
                </a:solidFill>
              </a:rPr>
              <a:t> </a:t>
            </a:r>
            <a:r>
              <a:rPr lang="fr-FR" spc="-1">
                <a:solidFill>
                  <a:srgbClr val="C00000"/>
                </a:solidFill>
              </a:rPr>
              <a:t>injustifiée </a:t>
            </a:r>
            <a:r>
              <a:rPr lang="fr-FR" spc="-1">
                <a:solidFill>
                  <a:srgbClr val="404040"/>
                </a:solidFill>
              </a:rPr>
              <a:t>= 0 dans la moyenne</a:t>
            </a:r>
            <a:endParaRPr lang="fr-FR" spc="-1">
              <a:solidFill>
                <a:srgbClr val="000000"/>
              </a:solidFill>
              <a:latin typeface="Arial"/>
            </a:endParaRPr>
          </a:p>
          <a:p>
            <a:pPr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pc="-1">
                <a:solidFill>
                  <a:srgbClr val="404040"/>
                </a:solidFill>
              </a:rPr>
              <a:t>Consulter MOODLE pour les horaires et les placements</a:t>
            </a:r>
            <a:endParaRPr/>
          </a:p>
          <a:p>
            <a:pPr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pc="-1">
                <a:solidFill>
                  <a:srgbClr val="404040"/>
                </a:solidFill>
              </a:rPr>
              <a:t> Le site de l’UFR / ADE (emploi du temps)</a:t>
            </a:r>
            <a:endParaRPr lang="fr-FR" spc="-1">
              <a:solidFill>
                <a:srgbClr val="000000"/>
              </a:solidFill>
              <a:latin typeface="Arial"/>
            </a:endParaRPr>
          </a:p>
          <a:p>
            <a:pPr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pc="-1">
                <a:solidFill>
                  <a:srgbClr val="404040"/>
                </a:solidFill>
              </a:rPr>
              <a:t>Vous devez être présent à l’heure:</a:t>
            </a:r>
            <a:r>
              <a:rPr lang="fr-FR" spc="-1">
                <a:solidFill>
                  <a:srgbClr val="000000"/>
                </a:solidFill>
                <a:latin typeface="Arial"/>
              </a:rPr>
              <a:t> </a:t>
            </a:r>
            <a:r>
              <a:rPr lang="fr-FR" spc="-1">
                <a:solidFill>
                  <a:srgbClr val="404040"/>
                </a:solidFill>
              </a:rPr>
              <a:t>en cas de retard l’enseignant n’est pas tenu de vous accepter: Une absence injustifiée sera enregistrée</a:t>
            </a:r>
            <a:endParaRPr/>
          </a:p>
          <a:p>
            <a:pPr indent="-90720" algn="just">
              <a:lnSpc>
                <a:spcPct val="100000"/>
              </a:lnSpc>
              <a:buClr>
                <a:srgbClr val="D34817"/>
              </a:buClr>
              <a:buFont typeface="Wingdings"/>
              <a:buChar char=""/>
              <a:defRPr/>
            </a:pPr>
            <a:r>
              <a:rPr lang="fr-FR" spc="-1">
                <a:solidFill>
                  <a:srgbClr val="404040"/>
                </a:solidFill>
              </a:rPr>
              <a:t>Les horaires affichés tiennent compte des tiers temps</a:t>
            </a:r>
            <a:endParaRPr lang="fr-FR" spc="-1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539172" y="2519680"/>
            <a:ext cx="3200400" cy="337912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fr-FR" sz="2400" b="1" spc="-46">
                <a:solidFill>
                  <a:srgbClr val="9E3611"/>
                </a:solidFill>
                <a:latin typeface="Arial"/>
              </a:rPr>
              <a:t>Epreuves écrites</a:t>
            </a:r>
            <a:endParaRPr lang="fr-FR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C00000"/>
                </a:solidFill>
              </a:rPr>
              <a:t>La BOX</a:t>
            </a:r>
            <a:endParaRPr lang="fr-FR" dirty="0">
              <a:solidFill>
                <a:srgbClr val="C0000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976" y="404664"/>
            <a:ext cx="4593021" cy="57046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1384" y="3645024"/>
            <a:ext cx="2850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dirty="0">
                <a:hlinkClick r:id="rId3"/>
              </a:rPr>
              <a:t>https://u-paris.fr/bienvenue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512958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étrospectiv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Rétrospective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Rétrospective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étrospectiv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Rétrospective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</TotalTime>
  <Words>553</Words>
  <Application>Microsoft Office PowerPoint</Application>
  <DocSecurity>0</DocSecurity>
  <PresentationFormat>Grand écran</PresentationFormat>
  <Paragraphs>87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Wingdings</vt:lpstr>
      <vt:lpstr>Rétrospective</vt:lpstr>
      <vt:lpstr>1_Rétrospective</vt:lpstr>
      <vt:lpstr>Présentation PowerPoint</vt:lpstr>
      <vt:lpstr>Horaires </vt:lpstr>
      <vt:lpstr>Présentation PowerPoint</vt:lpstr>
      <vt:lpstr>Présentation PowerPoint</vt:lpstr>
      <vt:lpstr>Consulter son emploi du temps</vt:lpstr>
      <vt:lpstr>Focus</vt:lpstr>
      <vt:lpstr>Focus </vt:lpstr>
      <vt:lpstr>Focus</vt:lpstr>
      <vt:lpstr>La BOX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cindy godeau</dc:creator>
  <cp:keywords/>
  <dc:description/>
  <cp:lastModifiedBy>Séverine Lopes,Responsable_de_Service,,,</cp:lastModifiedBy>
  <cp:revision>238</cp:revision>
  <cp:lastPrinted>2022-09-02T11:38:09Z</cp:lastPrinted>
  <dcterms:created xsi:type="dcterms:W3CDTF">2018-12-26T23:04:20Z</dcterms:created>
  <dcterms:modified xsi:type="dcterms:W3CDTF">2022-09-02T11:56:51Z</dcterms:modified>
  <cp:category/>
  <dc:identifier/>
  <cp:contentStatus/>
  <dc:language>fr-FR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5</vt:i4>
  </property>
  <property fmtid="{D5CDD505-2E9C-101B-9397-08002B2CF9AE}" pid="8" name="PresentationFormat">
    <vt:lpwstr>Grand écran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13</vt:i4>
  </property>
</Properties>
</file>